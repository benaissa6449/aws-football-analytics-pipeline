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aoui Khalil" initials="KA" lastIdx="2" clrIdx="0">
    <p:extLst>
      <p:ext uri="{19B8F6BF-5375-455C-9EA6-DF929625EA0E}">
        <p15:presenceInfo xmlns:p15="http://schemas.microsoft.com/office/powerpoint/2012/main" userId="S::khalil.araoui@etu.u-pec.fr::16c0c149-3b90-43b9-abbd-cc01da13743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23C2C"/>
    <a:srgbClr val="E85216"/>
    <a:srgbClr val="FE7C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65" autoAdjust="0"/>
    <p:restoredTop sz="95196" autoAdjust="0"/>
  </p:normalViewPr>
  <p:slideViewPr>
    <p:cSldViewPr snapToGrid="0">
      <p:cViewPr varScale="1">
        <p:scale>
          <a:sx n="82" d="100"/>
          <a:sy n="82" d="100"/>
        </p:scale>
        <p:origin x="112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C37BF-315E-40D3-A0F9-60C4809FCF8B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D397C-E23A-4BCD-ABDC-2B7C5909BC0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6088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Bonjour, On vous présente Football Analytics.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Pensez à la Premier League. Chaque week-end : millions de données en direct. Les buts, les passes, les performances, les statistiques. Mais elles restent dispersées, non-exploitées, enfouies dans des fichiers CSV.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si vous pouviez centraliser tout ça, le nettoyer et l'analyser en 5-10 minutes... automatiquement ?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exactement ce que notre pipeline fait.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résultat : des 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interactifs </a:t>
            </a:r>
            <a:r>
              <a:rPr lang="fr-FR" sz="28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qui transforment les données en décisions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Le tout pour moins de $30 par mois.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 comment on a construit une solution production-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ready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pour un problème réel.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D397C-E23A-4BCD-ABDC-2B7C5909BC0A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5490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Voilà ce qu'on va analyser : une montagne de données de football.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1,941 matchs officiels des 6 plus grandes ligues européennes. Pas des simulations, pas des hypothèses - du réel pur. 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match qui compte, avec ses données intactes.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5,582 buts marqués. Pensez à ça : chaque but a une histoire. Qui l'a marqué ? À quelle minute ? Dans quel contexte ? Ici, on capture TOUT.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Mais voilà le vrai pouvoir : 23 dimensions de données par match. Les équipes, les buteurs, les arbitres, les conditions, les timestamps... C'est comme avoir une radiographie complète de chaque match.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ce qui rend ça vraiment spécial ? C'est du data PROPRE. Validé, structuré, sans bruit, sans erreurs. Prêt à être transformé en intelligence.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Vous voyez l'impact ? Avec ces données, vous pouvez prédire les tendances, identifier les patterns, prendre des décisions avant vos concurrents.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D397C-E23A-4BCD-ABDC-2B7C5909BC0A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0868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Pourquoi c’est du vrai Big Data? Voici les 5V : </a:t>
            </a:r>
          </a:p>
          <a:p>
            <a:r>
              <a:rPr lang="fr-FR" b="1" dirty="0"/>
              <a:t>VOLUME</a:t>
            </a:r>
            <a:r>
              <a:rPr lang="fr-FR" dirty="0"/>
              <a:t> : 1,941 matchs, 5,582 buts. Plusieurs saisons complètes de 6 ligues majeures. Du volume réel.</a:t>
            </a:r>
          </a:p>
          <a:p>
            <a:r>
              <a:rPr lang="fr-FR" b="1" dirty="0"/>
              <a:t>VELOCITY</a:t>
            </a:r>
            <a:r>
              <a:rPr lang="fr-FR" dirty="0"/>
              <a:t> : Traitement en </a:t>
            </a:r>
            <a:r>
              <a:rPr lang="fr-FR" b="1" dirty="0"/>
              <a:t>5 à 10 minutes</a:t>
            </a:r>
            <a:r>
              <a:rPr lang="fr-FR" dirty="0"/>
              <a:t>. Pas des heures. Du quasi-temps-réel grâce au cloud.</a:t>
            </a:r>
          </a:p>
          <a:p>
            <a:r>
              <a:rPr lang="fr-FR" b="1" dirty="0"/>
              <a:t>VARIETY</a:t>
            </a:r>
            <a:r>
              <a:rPr lang="fr-FR" dirty="0"/>
              <a:t> : CSV en entrée, Parquet en sortie. 23 attributs enrichis. Chaque match devient une mosaïque d'informations.</a:t>
            </a:r>
          </a:p>
          <a:p>
            <a:r>
              <a:rPr lang="fr-FR" b="1" dirty="0"/>
              <a:t>VERACITY</a:t>
            </a:r>
            <a:r>
              <a:rPr lang="fr-FR" dirty="0"/>
              <a:t> : 100% qualité. Sources officielles validées. Zéro erreur. Vous pouvez prendre vos décisions en toute confiance.</a:t>
            </a:r>
          </a:p>
          <a:p>
            <a:r>
              <a:rPr lang="fr-FR" b="1" dirty="0"/>
              <a:t>VALUE</a:t>
            </a:r>
            <a:r>
              <a:rPr lang="fr-FR" dirty="0"/>
              <a:t> : Au-delà des chiffres, vous voyez des patterns, des tendances, des insights. C'est ça, l'avantage compétitif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D397C-E23A-4BCD-ABDC-2B7C5909BC0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610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Voici les 4 phases du pipeline.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1 - INGESTION 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DataSync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transfère les fichiers CSV vers Amazon S3, notre data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centralisé.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2 - TRANSFORMATION 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Glue ETL nettoie, valide et enrichit les données avec Apache Spark. Les données sont converties en format Parquet, optimisé pour l'analyse.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3 - CATALOGING 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Glue Crawler découvre automatiquement les schémas et crée un catalogue de métadonnées centralisé.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PHASE 4 - ANALYSIS :</a:t>
            </a:r>
            <a:b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Amazon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Athena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permet des requêtes SQL directes sur S3. Les résultats sont visualisés dans Power BI.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résultat : un pipeline automatisé, scalable, de l'ingestion à la visualisation en 5 -10 minutes.</a:t>
            </a:r>
          </a:p>
          <a:p>
            <a:br>
              <a:rPr lang="fr-FR" dirty="0"/>
            </a:b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D397C-E23A-4BCD-ABDC-2B7C5909BC0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9833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Ici, vous voyez les ressources AWS réellement créées par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Terraform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screenshots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montrent 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S3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Buckets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les data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lakes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brutes et transformées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Glue Crawler : qui a automatiquement découvert les schémas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Glue Jobs : les ETL en cours d'exécution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point clé : tout ça a été provisionné via code Infrastructure-as-Code. Pas de clics manuels. Reproductible. Versionné.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C'est la fondation qui rend le pipeline production-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ready</a:t>
            </a:r>
            <a:endParaRPr lang="fr-F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D397C-E23A-4BCD-ABDC-2B7C5909BC0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833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Maintenant, les insights. Voilà où ça devient intéressant pour les décideurs.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connecte directement à Amazon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Athena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affiche 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Goals by League : distribution des buts par compétition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classement en temps quasi-réel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 Performance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tendances temporelles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 Rates &amp; Trends : analyse comparative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graphe est dynamique, filtrable, interactif. Les utilisateurs peuvent creuser les données, explorer les patterns, prendre des décisions informées.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c'est mis à jour automatiquement via la pipeline.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 c'est l'impact final : des données brutes transformées en intelligence visuelle et actionnelle.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D397C-E23A-4BCD-ABDC-2B7C5909BC0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37408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38D7-75EE-6D7E-CD04-9C0F52BD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EDAF4DE-9A83-5C56-45A9-A9EF32FFCC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D9FE924-B10A-4C38-8248-B0AFCF79C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Maintenant, les insights. Voilà où ça devient intéressant pour les décideurs.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Power BI connecte directement à Amazon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Athena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affiche :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Goals by League : distribution des buts par compétition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Top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Scorers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classement en temps quasi-réel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 Performance </a:t>
            </a:r>
            <a:r>
              <a:rPr lang="fr-F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: tendances temporelles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Win Rates &amp; Trends : analyse comparative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graphe est dynamique, filtrable, interactif. Les utilisateurs peuvent creuser les données, explorer les patterns, prendre des décisions informées.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c'est mis à jour automatiquement via la pipeline.</a:t>
            </a:r>
          </a:p>
          <a:p>
            <a:r>
              <a:rPr lang="fr-F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Ça c'est l'impact final : des données brutes transformées en intelligence visuelle et actionnelle.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F4B9284-C296-A5A9-520C-FE00C3E1D1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D397C-E23A-4BCD-ABDC-2B7C5909BC0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6478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935F1D-E49A-2EC1-86C2-7D23ED977E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1052BA6-07A4-2450-99BE-EF4B7C8EB6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B890FC-19A8-30FB-E8A9-C26CD515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3F087C-4D36-D6AB-9827-725BC6713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B83C85-1A22-F520-429D-0A20E1D85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468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755D28-F808-7DFE-38D2-DBC963217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BADB3E-7778-F7A0-CF08-3E7A1743E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C6CAB5-048C-CA9D-F885-5DFB7B3A0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51F2053-6F96-FF14-CFE0-BF86EE83A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4650AC-6C91-8A46-AE81-4AE887AB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45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1B1F40-85E5-EB63-EB4E-2B266F24B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BBA3C3-2DE1-F741-E863-B6DE3AC8D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79225-D9B8-333D-E0D9-7E0D5542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5F61F0-B558-EEB7-49A5-4A9F5ACF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E8F4DD-D929-B6AB-5977-7D9408FD7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088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B4934D-3332-C7EB-31FA-6F9FBB1E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843E7A-322A-788D-EAA3-2E1A0A9C5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D1D092E-99FB-1C65-20D9-DD98DE3FF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718E1C-5330-5F50-7233-28F32B7D4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5574643-A883-F1E9-7E85-52D68CBF7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47038EA-ED47-6A3E-573E-2B823EE2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011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BBACA3-9A1D-0054-369F-159ECB9F9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98AE77F-D963-579D-3798-769320D62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B16AB4-4499-FFA3-F507-8F490982E3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32B2DC7-DCF3-D6C7-B4B8-C9FC0BBA9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48598AD-F4AC-AB49-481E-935F62FF3A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A4C5B3C-59FE-4909-B6D1-49F0E670F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674A51A-33B8-53E8-C7EA-70DB2C21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71544C3-4D69-1A9B-4AEE-F8DDE9560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8267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B52435-8CAD-53AD-DD8E-05E3D4EF3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9F8CCA0-2C43-0354-D63C-F3C1B556C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597241-1985-CEAC-6C59-FD335B42D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183AF8-7E97-FC62-3E2F-1899767D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132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9D3ABBA-7B20-0B19-D966-6B26DC1B1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206592F-DFE7-7EE3-D211-CFEA72232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F2C9BFE-C5B8-A310-08CE-D14EFC827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0404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046DBA-3CC3-6923-2A73-A8E4FB40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C7A0EFE-6EA7-F081-DCF0-8ACAF5E54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C6108D3-6695-2123-92D3-304D488DF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AA388BA-C475-5586-FB20-4468EF10B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86060A8-3665-920D-0028-729AFAD6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B93AB28-0F90-E676-44EA-41BC995BB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8315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65796-8F97-DC40-0CCF-C7B43E6AF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3D816BE-A20C-A0DE-B29F-AFE038685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8D1375-0695-EFD2-95DC-0E817FFE3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51248A-F006-3C8E-4C92-6B072B7F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1295671-56D3-1476-4017-68437DA85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9E2D59F-E6F0-14E9-C6A8-9B61ABA2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837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561362-3249-622F-6D75-6A9D7D2DA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25291F6-2856-B53D-28AE-6776511F2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D0C1A1-50BA-5119-62CE-0F8F54622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F594EEC-7A81-AB4E-4BE2-5467FFEF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D12525B-30FC-A092-C327-EE02B341B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67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28BC16A-55E7-1606-6140-631EEFD511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A55C5B9-6B60-1FB6-3682-E7CDDA1E28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180274F-86A0-534E-3743-3DA797E92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B3B1D18-31DC-6873-56F8-5DCA2EF1C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C89213-672D-6753-413C-0E131F589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9884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B132D04-F288-1AAB-7D34-3786C724B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3FE5D9-A2C4-A586-E25A-D6B38375A3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82CDE9-5D22-3FE2-518B-B5639328A9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AE1B9-D0BB-459E-9419-D6DC459D1CE5}" type="datetimeFigureOut">
              <a:rPr lang="fr-FR" smtClean="0"/>
              <a:t>29/01/2026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E4D7B6-F50D-A8A9-971F-953B8A2DC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1D9270-8C0C-D94B-7D3B-F7A9F6ED7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F9A8D-C82C-4330-A081-C8314784A73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764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Picture 20" descr="🔥 [90+] Pure Black Wallpapers | WallpaperSafari">
            <a:extLst>
              <a:ext uri="{FF2B5EF4-FFF2-40B4-BE49-F238E27FC236}">
                <a16:creationId xmlns:a16="http://schemas.microsoft.com/office/drawing/2014/main" id="{66329495-1352-E9BD-FB4A-CC3DFD209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217468" cy="686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7C9B732E-E81A-95F2-9FA2-E9C1E7128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133599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Football League Analytics Cloud Pipeline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A6DE0FA-136F-A9CF-077C-CAEC3E8B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0851" y="3602039"/>
            <a:ext cx="6970295" cy="424529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Football League Analytics | Real-time Insights</a:t>
            </a:r>
          </a:p>
          <a:p>
            <a:br>
              <a:rPr lang="en-US" sz="2200" dirty="0"/>
            </a:br>
            <a:endParaRPr lang="fr-FR" sz="22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C73F77B-9381-13AD-75BF-4A02E7F11301}"/>
              </a:ext>
            </a:extLst>
          </p:cNvPr>
          <p:cNvSpPr txBox="1"/>
          <p:nvPr/>
        </p:nvSpPr>
        <p:spPr>
          <a:xfrm>
            <a:off x="3721766" y="5945811"/>
            <a:ext cx="4748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AWS Cloud Architecture | Data Engineering PoC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Ismail BENAISSA &amp; Khalil ARAOUI</a:t>
            </a:r>
          </a:p>
          <a:p>
            <a:br>
              <a:rPr lang="en-US" dirty="0"/>
            </a:br>
            <a:endParaRPr lang="fr-FR" dirty="0"/>
          </a:p>
        </p:txBody>
      </p:sp>
      <p:pic>
        <p:nvPicPr>
          <p:cNvPr id="1046" name="Picture 22" descr="EPISEN">
            <a:extLst>
              <a:ext uri="{FF2B5EF4-FFF2-40B4-BE49-F238E27FC236}">
                <a16:creationId xmlns:a16="http://schemas.microsoft.com/office/drawing/2014/main" id="{E8A22AFF-9CA2-708B-D198-8594BFBD1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2721" y="60123"/>
            <a:ext cx="3037839" cy="889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602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🔥 [90+] Pure Black Wallpapers | WallpaperSafari">
            <a:extLst>
              <a:ext uri="{FF2B5EF4-FFF2-40B4-BE49-F238E27FC236}">
                <a16:creationId xmlns:a16="http://schemas.microsoft.com/office/drawing/2014/main" id="{72460552-6AEB-4EF3-B3D8-4D4B1E1B7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217468" cy="686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5519FBC-BF33-BC58-CC18-4B3EC98F6114}"/>
              </a:ext>
            </a:extLst>
          </p:cNvPr>
          <p:cNvSpPr txBox="1"/>
          <p:nvPr/>
        </p:nvSpPr>
        <p:spPr>
          <a:xfrm>
            <a:off x="597086" y="1639907"/>
            <a:ext cx="3470032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1,941 OFFICIAL MATCHES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Across 6 Major European Leagues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B3DF217-9426-38A6-83B9-8073B977A549}"/>
              </a:ext>
            </a:extLst>
          </p:cNvPr>
          <p:cNvSpPr txBox="1"/>
          <p:nvPr/>
        </p:nvSpPr>
        <p:spPr>
          <a:xfrm>
            <a:off x="7847445" y="1637901"/>
            <a:ext cx="3470032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5,582 GOALS ANALYZED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Every single one, every insight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0B47E37-9B2C-018F-3974-4273EC7DFAD4}"/>
              </a:ext>
            </a:extLst>
          </p:cNvPr>
          <p:cNvSpPr txBox="1"/>
          <p:nvPr/>
        </p:nvSpPr>
        <p:spPr>
          <a:xfrm>
            <a:off x="3769768" y="3866994"/>
            <a:ext cx="4208586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chemeClr val="bg1"/>
                </a:solidFill>
              </a:rPr>
              <a:t>6 TOP LEAGUES </a:t>
            </a:r>
          </a:p>
          <a:p>
            <a:r>
              <a:rPr lang="fr-FR" dirty="0">
                <a:solidFill>
                  <a:schemeClr val="bg1"/>
                </a:solidFill>
              </a:rPr>
              <a:t>Premier League </a:t>
            </a:r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fr-FR" dirty="0">
                <a:solidFill>
                  <a:schemeClr val="bg1"/>
                </a:solidFill>
              </a:rPr>
              <a:t>La Liga </a:t>
            </a:r>
            <a:r>
              <a:rPr lang="en-US" dirty="0">
                <a:solidFill>
                  <a:schemeClr val="bg1"/>
                </a:solidFill>
              </a:rPr>
              <a:t>•</a:t>
            </a:r>
            <a:r>
              <a:rPr lang="fr-FR" dirty="0">
                <a:solidFill>
                  <a:schemeClr val="bg1"/>
                </a:solidFill>
              </a:rPr>
              <a:t> </a:t>
            </a:r>
            <a:r>
              <a:rPr lang="fr-FR" dirty="0" err="1">
                <a:solidFill>
                  <a:schemeClr val="bg1"/>
                </a:solidFill>
              </a:rPr>
              <a:t>Serie</a:t>
            </a:r>
            <a:r>
              <a:rPr lang="fr-FR" dirty="0">
                <a:solidFill>
                  <a:schemeClr val="bg1"/>
                </a:solidFill>
              </a:rPr>
              <a:t> A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  <a:p>
            <a:r>
              <a:rPr lang="fr-FR" dirty="0">
                <a:solidFill>
                  <a:schemeClr val="bg1"/>
                </a:solidFill>
              </a:rPr>
              <a:t>Bundesliga </a:t>
            </a:r>
            <a:r>
              <a:rPr lang="en-US" dirty="0">
                <a:solidFill>
                  <a:schemeClr val="bg1"/>
                </a:solidFill>
              </a:rPr>
              <a:t>• </a:t>
            </a:r>
            <a:r>
              <a:rPr lang="fr-FR" dirty="0">
                <a:solidFill>
                  <a:schemeClr val="bg1"/>
                </a:solidFill>
              </a:rPr>
              <a:t>Ligue 1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fr-FR" dirty="0">
                <a:solidFill>
                  <a:schemeClr val="bg1"/>
                </a:solidFill>
              </a:rPr>
              <a:t>Champions League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D84A896-AEC6-D10B-E12C-C26F47581498}"/>
              </a:ext>
            </a:extLst>
          </p:cNvPr>
          <p:cNvSpPr txBox="1"/>
          <p:nvPr/>
        </p:nvSpPr>
        <p:spPr>
          <a:xfrm>
            <a:off x="7478168" y="5220098"/>
            <a:ext cx="4208586" cy="101566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23 ATTRIBUTES PER MATCH </a:t>
            </a:r>
          </a:p>
          <a:p>
            <a:r>
              <a:rPr lang="en-US" dirty="0">
                <a:solidFill>
                  <a:schemeClr val="bg1"/>
                </a:solidFill>
              </a:rPr>
              <a:t>Teams • Players • Referees • Timestamps </a:t>
            </a:r>
          </a:p>
          <a:p>
            <a:r>
              <a:rPr lang="en-US" dirty="0">
                <a:solidFill>
                  <a:schemeClr val="bg1"/>
                </a:solidFill>
              </a:rPr>
              <a:t>• Scores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95176A9-81A6-657D-416D-8027E422E84A}"/>
              </a:ext>
            </a:extLst>
          </p:cNvPr>
          <p:cNvSpPr txBox="1"/>
          <p:nvPr/>
        </p:nvSpPr>
        <p:spPr>
          <a:xfrm>
            <a:off x="4664204" y="2552166"/>
            <a:ext cx="16383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7200" b="0" i="0" dirty="0">
                <a:solidFill>
                  <a:srgbClr val="C5C8C6"/>
                </a:solidFill>
                <a:effectLst/>
                <a:latin typeface="berkeleyMono"/>
              </a:rPr>
              <a:t>⚽</a:t>
            </a:r>
            <a:endParaRPr lang="fr-FR" sz="7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5FFAEF8-6532-4DFB-2345-766143D46F85}"/>
              </a:ext>
            </a:extLst>
          </p:cNvPr>
          <p:cNvSpPr txBox="1"/>
          <p:nvPr/>
        </p:nvSpPr>
        <p:spPr>
          <a:xfrm>
            <a:off x="4664204" y="529905"/>
            <a:ext cx="58380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Insights</a:t>
            </a:r>
            <a:endParaRPr lang="fr-FR" sz="6600" dirty="0">
              <a:solidFill>
                <a:schemeClr val="bg1"/>
              </a:solidFill>
            </a:endParaRPr>
          </a:p>
        </p:txBody>
      </p:sp>
      <p:pic>
        <p:nvPicPr>
          <p:cNvPr id="5124" name="Picture 4" descr="Football Goal PNG pour téléchargement gratuit">
            <a:extLst>
              <a:ext uri="{FF2B5EF4-FFF2-40B4-BE49-F238E27FC236}">
                <a16:creationId xmlns:a16="http://schemas.microsoft.com/office/drawing/2014/main" id="{E08012A1-A9DC-0C43-7DB9-12068758E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553223"/>
            <a:ext cx="51625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FCON 2025: Brahim Diaz's future after his exceptional penalty miss">
            <a:extLst>
              <a:ext uri="{FF2B5EF4-FFF2-40B4-BE49-F238E27FC236}">
                <a16:creationId xmlns:a16="http://schemas.microsoft.com/office/drawing/2014/main" id="{FEDF4F38-8303-7E2A-0F95-83F09A2E3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344" y="5068188"/>
            <a:ext cx="1504677" cy="845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578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40A092-C140-5BD5-04E0-9966AA856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A63F5C-12DF-4F48-9E3F-4B9559EFD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20" descr="🔥 [90+] Pure Black Wallpapers | WallpaperSafari">
            <a:extLst>
              <a:ext uri="{FF2B5EF4-FFF2-40B4-BE49-F238E27FC236}">
                <a16:creationId xmlns:a16="http://schemas.microsoft.com/office/drawing/2014/main" id="{87DB9E73-7483-878F-F128-849B1C109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34" y="-9553"/>
            <a:ext cx="12217468" cy="686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lèche : droite à entaille 15">
            <a:extLst>
              <a:ext uri="{FF2B5EF4-FFF2-40B4-BE49-F238E27FC236}">
                <a16:creationId xmlns:a16="http://schemas.microsoft.com/office/drawing/2014/main" id="{1E838C1A-A66F-FE46-753F-E2A1EB50686D}"/>
              </a:ext>
            </a:extLst>
          </p:cNvPr>
          <p:cNvSpPr/>
          <p:nvPr/>
        </p:nvSpPr>
        <p:spPr>
          <a:xfrm>
            <a:off x="169682" y="3335937"/>
            <a:ext cx="11816578" cy="2121030"/>
          </a:xfrm>
          <a:prstGeom prst="notchedRight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08D36ED-D892-9204-6EAB-7B0AFBE10217}"/>
              </a:ext>
            </a:extLst>
          </p:cNvPr>
          <p:cNvSpPr txBox="1"/>
          <p:nvPr/>
        </p:nvSpPr>
        <p:spPr>
          <a:xfrm>
            <a:off x="3276600" y="513283"/>
            <a:ext cx="6477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The 5 Dimensions</a:t>
            </a:r>
            <a:endParaRPr lang="fr-FR" sz="6000" dirty="0">
              <a:solidFill>
                <a:schemeClr val="bg1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4936596-D4F3-AFD9-62AE-DE2738EC61BC}"/>
              </a:ext>
            </a:extLst>
          </p:cNvPr>
          <p:cNvSpPr/>
          <p:nvPr/>
        </p:nvSpPr>
        <p:spPr>
          <a:xfrm>
            <a:off x="609600" y="1935479"/>
            <a:ext cx="2560320" cy="25907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Volume</a:t>
            </a:r>
          </a:p>
          <a:p>
            <a:pPr algn="ctr"/>
            <a:r>
              <a:rPr lang="en-US" sz="1400" dirty="0"/>
              <a:t>- 2000 matches</a:t>
            </a:r>
          </a:p>
          <a:p>
            <a:pPr algn="ctr"/>
            <a:r>
              <a:rPr lang="en-US" sz="1400" dirty="0"/>
              <a:t>- 5582 goals</a:t>
            </a:r>
          </a:p>
          <a:p>
            <a:pPr algn="ctr"/>
            <a:r>
              <a:rPr lang="en-US" sz="1400" dirty="0"/>
              <a:t>- 1.34 MB data</a:t>
            </a:r>
          </a:p>
          <a:p>
            <a:pPr algn="ctr"/>
            <a:endParaRPr lang="fr-FR" dirty="0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98DF241-7C22-218E-2962-973177984E2C}"/>
              </a:ext>
            </a:extLst>
          </p:cNvPr>
          <p:cNvSpPr/>
          <p:nvPr/>
        </p:nvSpPr>
        <p:spPr>
          <a:xfrm>
            <a:off x="5044440" y="1935480"/>
            <a:ext cx="2506980" cy="2590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Velocity</a:t>
            </a:r>
          </a:p>
          <a:p>
            <a:pPr algn="ctr"/>
            <a:r>
              <a:rPr lang="en-US" sz="1400" dirty="0"/>
              <a:t>- 5-10 min latency</a:t>
            </a:r>
          </a:p>
          <a:p>
            <a:pPr algn="ctr"/>
            <a:r>
              <a:rPr lang="en-US" sz="1400" dirty="0"/>
              <a:t>- Real-time insights</a:t>
            </a:r>
            <a:endParaRPr lang="fr-FR" sz="14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AABA987C-5F49-89B4-67D8-9E5AE89E5B07}"/>
              </a:ext>
            </a:extLst>
          </p:cNvPr>
          <p:cNvSpPr/>
          <p:nvPr/>
        </p:nvSpPr>
        <p:spPr>
          <a:xfrm>
            <a:off x="9479280" y="1938699"/>
            <a:ext cx="2506980" cy="240946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Variety</a:t>
            </a:r>
          </a:p>
          <a:p>
            <a:pPr algn="ctr"/>
            <a:r>
              <a:rPr lang="en-US" sz="1400" dirty="0"/>
              <a:t>- CSV structured</a:t>
            </a:r>
          </a:p>
          <a:p>
            <a:pPr algn="ctr"/>
            <a:r>
              <a:rPr lang="en-US" sz="1400" dirty="0"/>
              <a:t>- 23 attributes/match</a:t>
            </a:r>
          </a:p>
          <a:p>
            <a:pPr algn="ctr"/>
            <a:r>
              <a:rPr lang="en-US" sz="1400" dirty="0"/>
              <a:t>- Parquet output</a:t>
            </a:r>
            <a:endParaRPr lang="fr-FR" sz="1400" dirty="0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3108502-F9BF-B796-2BD1-33A5E762716E}"/>
              </a:ext>
            </a:extLst>
          </p:cNvPr>
          <p:cNvSpPr/>
          <p:nvPr/>
        </p:nvSpPr>
        <p:spPr>
          <a:xfrm>
            <a:off x="2914650" y="4056220"/>
            <a:ext cx="2560320" cy="25907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Veracity</a:t>
            </a:r>
          </a:p>
          <a:p>
            <a:pPr algn="ctr"/>
            <a:r>
              <a:rPr lang="en-US" sz="1400" dirty="0"/>
              <a:t>- 100% data quality</a:t>
            </a:r>
          </a:p>
          <a:p>
            <a:pPr algn="ctr"/>
            <a:r>
              <a:rPr lang="en-US" sz="1400" dirty="0"/>
              <a:t>- Official Sources</a:t>
            </a:r>
          </a:p>
          <a:p>
            <a:pPr algn="ctr"/>
            <a:r>
              <a:rPr lang="en-US" sz="1400" dirty="0"/>
              <a:t>- Glue validation</a:t>
            </a:r>
          </a:p>
          <a:p>
            <a:pPr algn="ctr"/>
            <a:endParaRPr lang="fr-FR" dirty="0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EA32314-57EE-6483-099C-DEDBCE73D977}"/>
              </a:ext>
            </a:extLst>
          </p:cNvPr>
          <p:cNvSpPr/>
          <p:nvPr/>
        </p:nvSpPr>
        <p:spPr>
          <a:xfrm>
            <a:off x="7402830" y="4089079"/>
            <a:ext cx="2560320" cy="25907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accent2"/>
                </a:solidFill>
              </a:rPr>
              <a:t>Value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- 2.88 goals/match</a:t>
            </a: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- 6 major </a:t>
            </a:r>
            <a:r>
              <a:rPr lang="en-US" sz="1400" dirty="0" err="1">
                <a:solidFill>
                  <a:schemeClr val="bg1"/>
                </a:solidFill>
              </a:rPr>
              <a:t>leaques</a:t>
            </a:r>
            <a:endParaRPr lang="en-US" sz="1400" dirty="0">
              <a:solidFill>
                <a:schemeClr val="bg1"/>
              </a:solidFill>
            </a:endParaRPr>
          </a:p>
          <a:p>
            <a:pPr algn="ctr"/>
            <a:r>
              <a:rPr lang="en-US" sz="1400" dirty="0">
                <a:solidFill>
                  <a:schemeClr val="bg1"/>
                </a:solidFill>
              </a:rPr>
              <a:t>- </a:t>
            </a:r>
            <a:r>
              <a:rPr lang="en-US" sz="1400" dirty="0" err="1">
                <a:solidFill>
                  <a:schemeClr val="bg1"/>
                </a:solidFill>
              </a:rPr>
              <a:t>Compettitive</a:t>
            </a:r>
            <a:r>
              <a:rPr lang="en-US" sz="1400" dirty="0">
                <a:solidFill>
                  <a:schemeClr val="bg1"/>
                </a:solidFill>
              </a:rPr>
              <a:t> edge</a:t>
            </a:r>
            <a:endParaRPr lang="fr-FR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717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273EB6-6972-1226-142F-4BF9B0970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861753-454C-0828-AC2F-5ACF25E9D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20" descr="🔥 [90+] Pure Black Wallpapers | WallpaperSafari">
            <a:extLst>
              <a:ext uri="{FF2B5EF4-FFF2-40B4-BE49-F238E27FC236}">
                <a16:creationId xmlns:a16="http://schemas.microsoft.com/office/drawing/2014/main" id="{ED0BE4C6-C901-C265-7A7B-BCF9124C76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34" y="-9553"/>
            <a:ext cx="12217468" cy="686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F184E32-5547-F967-8C11-06EBA9FD83AB}"/>
              </a:ext>
            </a:extLst>
          </p:cNvPr>
          <p:cNvSpPr txBox="1"/>
          <p:nvPr/>
        </p:nvSpPr>
        <p:spPr>
          <a:xfrm>
            <a:off x="1908322" y="925589"/>
            <a:ext cx="87815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LA PIPELINE EN 4 PHASES</a:t>
            </a:r>
            <a:endParaRPr lang="fr-FR" sz="6000" dirty="0">
              <a:solidFill>
                <a:schemeClr val="bg1"/>
              </a:solidFill>
            </a:endParaRPr>
          </a:p>
        </p:txBody>
      </p: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C5896147-7CF9-ACA0-54EB-4ADB491D4995}"/>
              </a:ext>
            </a:extLst>
          </p:cNvPr>
          <p:cNvGrpSpPr/>
          <p:nvPr/>
        </p:nvGrpSpPr>
        <p:grpSpPr>
          <a:xfrm>
            <a:off x="73774" y="2668767"/>
            <a:ext cx="12044452" cy="2780681"/>
            <a:chOff x="82115" y="2218831"/>
            <a:chExt cx="12044452" cy="2780681"/>
          </a:xfrm>
        </p:grpSpPr>
        <p:sp>
          <p:nvSpPr>
            <p:cNvPr id="6" name="Flèche : chevron 5">
              <a:extLst>
                <a:ext uri="{FF2B5EF4-FFF2-40B4-BE49-F238E27FC236}">
                  <a16:creationId xmlns:a16="http://schemas.microsoft.com/office/drawing/2014/main" id="{20629306-4263-69DA-9F50-572F0E26A6A6}"/>
                </a:ext>
              </a:extLst>
            </p:cNvPr>
            <p:cNvSpPr/>
            <p:nvPr/>
          </p:nvSpPr>
          <p:spPr>
            <a:xfrm>
              <a:off x="82115" y="3032026"/>
              <a:ext cx="4020430" cy="1154291"/>
            </a:xfrm>
            <a:prstGeom prst="chevron">
              <a:avLst/>
            </a:prstGeom>
            <a:solidFill>
              <a:srgbClr val="D23C2C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INGESTION</a:t>
              </a:r>
            </a:p>
            <a:p>
              <a:pPr algn="ctr"/>
              <a:r>
                <a:rPr lang="en-US" sz="1200" b="1" i="1" dirty="0">
                  <a:solidFill>
                    <a:schemeClr val="tx1"/>
                  </a:solidFill>
                </a:rPr>
                <a:t>AWS </a:t>
              </a:r>
              <a:r>
                <a:rPr lang="en-US" sz="1200" b="1" i="1" dirty="0" err="1">
                  <a:solidFill>
                    <a:schemeClr val="tx1"/>
                  </a:solidFill>
                </a:rPr>
                <a:t>DataSync</a:t>
              </a:r>
              <a:r>
                <a:rPr lang="en-US" sz="1200" b="1" i="1" dirty="0">
                  <a:solidFill>
                    <a:schemeClr val="tx1"/>
                  </a:solidFill>
                </a:rPr>
                <a:t> + Amazon S3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sym typeface="Wingdings" panose="05000000000000000000" pitchFamily="2" charset="2"/>
                </a:rPr>
                <a:t> Load CSV files from source</a:t>
              </a:r>
              <a:endParaRPr lang="fr-F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Flèche : chevron 9">
              <a:extLst>
                <a:ext uri="{FF2B5EF4-FFF2-40B4-BE49-F238E27FC236}">
                  <a16:creationId xmlns:a16="http://schemas.microsoft.com/office/drawing/2014/main" id="{54D3FB05-730A-C89B-BB47-3F2E6FA58238}"/>
                </a:ext>
              </a:extLst>
            </p:cNvPr>
            <p:cNvSpPr/>
            <p:nvPr/>
          </p:nvSpPr>
          <p:spPr>
            <a:xfrm>
              <a:off x="4085707" y="2218831"/>
              <a:ext cx="4020430" cy="115429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1" dirty="0">
                <a:solidFill>
                  <a:schemeClr val="tx1"/>
                </a:solidFill>
              </a:endParaRPr>
            </a:p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TRANSFORMATION</a:t>
              </a:r>
            </a:p>
            <a:p>
              <a:pPr algn="ctr"/>
              <a:r>
                <a:rPr lang="en-US" sz="1200" b="1" i="1" dirty="0">
                  <a:solidFill>
                    <a:schemeClr val="tx1"/>
                  </a:solidFill>
                </a:rPr>
                <a:t>AWS Glue ETL (</a:t>
              </a:r>
              <a:r>
                <a:rPr lang="en-US" sz="1200" b="1" i="1" dirty="0" err="1">
                  <a:solidFill>
                    <a:schemeClr val="tx1"/>
                  </a:solidFill>
                </a:rPr>
                <a:t>PySpark</a:t>
              </a:r>
              <a:r>
                <a:rPr lang="en-US" sz="1200" b="1" i="1" dirty="0">
                  <a:solidFill>
                    <a:schemeClr val="tx1"/>
                  </a:solidFill>
                </a:rPr>
                <a:t>)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sym typeface="Wingdings" panose="05000000000000000000" pitchFamily="2" charset="2"/>
                </a:rPr>
                <a:t> Clean, Validate &amp;Enrich data</a:t>
              </a:r>
              <a:endParaRPr lang="en-US" sz="1200" b="1" dirty="0">
                <a:solidFill>
                  <a:schemeClr val="tx1"/>
                </a:solidFill>
              </a:endParaRPr>
            </a:p>
            <a:p>
              <a:pPr algn="ctr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Flèche : chevron 10">
              <a:extLst>
                <a:ext uri="{FF2B5EF4-FFF2-40B4-BE49-F238E27FC236}">
                  <a16:creationId xmlns:a16="http://schemas.microsoft.com/office/drawing/2014/main" id="{237723C2-D1EA-CB8D-8F8E-76FBD15844E1}"/>
                </a:ext>
              </a:extLst>
            </p:cNvPr>
            <p:cNvSpPr/>
            <p:nvPr/>
          </p:nvSpPr>
          <p:spPr>
            <a:xfrm>
              <a:off x="4085707" y="3845221"/>
              <a:ext cx="4020430" cy="1154291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CATALOGING</a:t>
              </a:r>
            </a:p>
            <a:p>
              <a:pPr algn="ctr"/>
              <a:r>
                <a:rPr lang="en-US" sz="1200" b="1" i="1" dirty="0">
                  <a:solidFill>
                    <a:schemeClr val="tx1"/>
                  </a:solidFill>
                </a:rPr>
                <a:t>AWS Glue Crawler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sym typeface="Wingdings" panose="05000000000000000000" pitchFamily="2" charset="2"/>
                </a:rPr>
                <a:t> Auto-discover schemas &amp; metadata</a:t>
              </a:r>
              <a:endParaRPr lang="fr-FR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Flèche : chevron 11">
              <a:extLst>
                <a:ext uri="{FF2B5EF4-FFF2-40B4-BE49-F238E27FC236}">
                  <a16:creationId xmlns:a16="http://schemas.microsoft.com/office/drawing/2014/main" id="{F9E24362-ADAB-F247-018A-63A365287519}"/>
                </a:ext>
              </a:extLst>
            </p:cNvPr>
            <p:cNvSpPr/>
            <p:nvPr/>
          </p:nvSpPr>
          <p:spPr>
            <a:xfrm>
              <a:off x="8106137" y="3032026"/>
              <a:ext cx="4020430" cy="1154291"/>
            </a:xfrm>
            <a:prstGeom prst="chevron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ANALYSIS</a:t>
              </a:r>
            </a:p>
            <a:p>
              <a:pPr algn="ctr"/>
              <a:r>
                <a:rPr lang="en-US" sz="1200" b="1" i="1" dirty="0">
                  <a:solidFill>
                    <a:schemeClr val="tx1"/>
                  </a:solidFill>
                </a:rPr>
                <a:t>Amazon Athena + Power BI</a:t>
              </a:r>
            </a:p>
            <a:p>
              <a:pPr algn="ctr"/>
              <a:r>
                <a:rPr lang="en-US" sz="1200" b="1" dirty="0">
                  <a:solidFill>
                    <a:schemeClr val="tx1"/>
                  </a:solidFill>
                  <a:sym typeface="Wingdings" panose="05000000000000000000" pitchFamily="2" charset="2"/>
                </a:rPr>
                <a:t> Query &amp; visualize insights</a:t>
              </a:r>
              <a:endParaRPr lang="fr-FR" sz="1200" b="1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0554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🔥 [90+] Pure Black Wallpapers | WallpaperSafari">
            <a:extLst>
              <a:ext uri="{FF2B5EF4-FFF2-40B4-BE49-F238E27FC236}">
                <a16:creationId xmlns:a16="http://schemas.microsoft.com/office/drawing/2014/main" id="{F10BD27A-34DC-5C2A-754B-7B6BDE9DD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34" y="-9553"/>
            <a:ext cx="12217468" cy="686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A10CC765-89D8-194C-3239-6E29BBBB4C1F}"/>
              </a:ext>
            </a:extLst>
          </p:cNvPr>
          <p:cNvGrpSpPr/>
          <p:nvPr/>
        </p:nvGrpSpPr>
        <p:grpSpPr>
          <a:xfrm>
            <a:off x="380630" y="824731"/>
            <a:ext cx="11737101" cy="6033269"/>
            <a:chOff x="360310" y="538480"/>
            <a:chExt cx="11737101" cy="6033269"/>
          </a:xfrm>
        </p:grpSpPr>
        <p:pic>
          <p:nvPicPr>
            <p:cNvPr id="2062" name="Picture 14" descr="Terraform Icon icon - Free Download PNG &amp; SVG | Streamline">
              <a:extLst>
                <a:ext uri="{FF2B5EF4-FFF2-40B4-BE49-F238E27FC236}">
                  <a16:creationId xmlns:a16="http://schemas.microsoft.com/office/drawing/2014/main" id="{DBDB3A33-BA1D-684E-FCED-85DC0B333D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535" y="1783828"/>
              <a:ext cx="2857500" cy="2857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5FAA73C0-5C43-4469-5B30-4EDEC96DA7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2607" y="636314"/>
              <a:ext cx="4922520" cy="139856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E5E952F6-5854-923B-7AA0-3167A439A5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9238" y="950061"/>
              <a:ext cx="6096000" cy="1265238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>
              <a:extLst>
                <a:ext uri="{FF2B5EF4-FFF2-40B4-BE49-F238E27FC236}">
                  <a16:creationId xmlns:a16="http://schemas.microsoft.com/office/drawing/2014/main" id="{8F5269D3-B2AF-7A66-D058-A0D260CFB1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310" y="3918870"/>
              <a:ext cx="5181600" cy="1953221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8" name="Picture 10">
              <a:extLst>
                <a:ext uri="{FF2B5EF4-FFF2-40B4-BE49-F238E27FC236}">
                  <a16:creationId xmlns:a16="http://schemas.microsoft.com/office/drawing/2014/main" id="{280A145C-1B1F-AF42-933D-C7F840A380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76038" y="2776016"/>
              <a:ext cx="6090465" cy="87312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60" name="Picture 12">
              <a:extLst>
                <a:ext uri="{FF2B5EF4-FFF2-40B4-BE49-F238E27FC236}">
                  <a16:creationId xmlns:a16="http://schemas.microsoft.com/office/drawing/2014/main" id="{1782AD0E-091F-5CF7-325C-C4C10A5AA8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05344" y="4349162"/>
              <a:ext cx="4604657" cy="185325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D412E8F5-1696-C389-7948-9A1930C8CA49}"/>
                </a:ext>
              </a:extLst>
            </p:cNvPr>
            <p:cNvSpPr txBox="1"/>
            <p:nvPr/>
          </p:nvSpPr>
          <p:spPr>
            <a:xfrm>
              <a:off x="1744064" y="2030633"/>
              <a:ext cx="15271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Amazon S3</a:t>
              </a:r>
              <a:endParaRPr lang="fr-FR" dirty="0">
                <a:solidFill>
                  <a:schemeClr val="bg1"/>
                </a:solidFill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66CD8E00-40F5-5CB0-439D-C1A10B5053D1}"/>
                </a:ext>
              </a:extLst>
            </p:cNvPr>
            <p:cNvSpPr txBox="1"/>
            <p:nvPr/>
          </p:nvSpPr>
          <p:spPr>
            <a:xfrm>
              <a:off x="7579861" y="2241776"/>
              <a:ext cx="26292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Amazon Glue Crawler</a:t>
              </a:r>
              <a:endParaRPr lang="fr-FR" dirty="0">
                <a:solidFill>
                  <a:schemeClr val="bg1"/>
                </a:solidFill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3F4ED398-AD14-894F-E131-FE1BD481AC98}"/>
                </a:ext>
              </a:extLst>
            </p:cNvPr>
            <p:cNvSpPr txBox="1"/>
            <p:nvPr/>
          </p:nvSpPr>
          <p:spPr>
            <a:xfrm>
              <a:off x="6387202" y="3635062"/>
              <a:ext cx="33206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Amazon Glue Catalog - Database</a:t>
              </a:r>
              <a:endParaRPr lang="fr-FR" dirty="0">
                <a:solidFill>
                  <a:schemeClr val="bg1"/>
                </a:solidFill>
              </a:endParaRP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3625F1F8-62E3-E21F-1466-CEF0E3FE696E}"/>
                </a:ext>
              </a:extLst>
            </p:cNvPr>
            <p:cNvSpPr txBox="1"/>
            <p:nvPr/>
          </p:nvSpPr>
          <p:spPr>
            <a:xfrm>
              <a:off x="1514968" y="5818404"/>
              <a:ext cx="30722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AWS Glue Data Catalog - Table</a:t>
              </a:r>
              <a:endParaRPr lang="fr-FR" dirty="0">
                <a:solidFill>
                  <a:schemeClr val="bg1"/>
                </a:solidFill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89846F50-9A0C-A701-52A0-26B6ED8B7A14}"/>
                </a:ext>
              </a:extLst>
            </p:cNvPr>
            <p:cNvSpPr txBox="1"/>
            <p:nvPr/>
          </p:nvSpPr>
          <p:spPr>
            <a:xfrm>
              <a:off x="8329487" y="6202417"/>
              <a:ext cx="26292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Amazon Athena</a:t>
              </a:r>
              <a:endParaRPr lang="fr-FR" dirty="0">
                <a:solidFill>
                  <a:schemeClr val="bg1"/>
                </a:solidFill>
              </a:endParaRP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083328D7-9647-C647-245E-97918F259A2A}"/>
                </a:ext>
              </a:extLst>
            </p:cNvPr>
            <p:cNvSpPr/>
            <p:nvPr/>
          </p:nvSpPr>
          <p:spPr>
            <a:xfrm>
              <a:off x="5191760" y="538480"/>
              <a:ext cx="274320" cy="2438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fr-FR" dirty="0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D4C1D1EE-A946-6856-98B2-30C14E0870F4}"/>
                </a:ext>
              </a:extLst>
            </p:cNvPr>
            <p:cNvSpPr/>
            <p:nvPr/>
          </p:nvSpPr>
          <p:spPr>
            <a:xfrm>
              <a:off x="11823091" y="828141"/>
              <a:ext cx="274320" cy="2438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fr-FR" dirty="0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B2C32BA8-E1B1-8054-9183-4A80317F1DC4}"/>
                </a:ext>
              </a:extLst>
            </p:cNvPr>
            <p:cNvSpPr/>
            <p:nvPr/>
          </p:nvSpPr>
          <p:spPr>
            <a:xfrm>
              <a:off x="10329343" y="2671480"/>
              <a:ext cx="274320" cy="2438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fr-FR" dirty="0"/>
            </a:p>
          </p:txBody>
        </p: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9C8A6A9C-A9EA-250A-7369-728AC00E1A5D}"/>
                </a:ext>
              </a:extLst>
            </p:cNvPr>
            <p:cNvSpPr/>
            <p:nvPr/>
          </p:nvSpPr>
          <p:spPr>
            <a:xfrm>
              <a:off x="5404750" y="3771954"/>
              <a:ext cx="274320" cy="2438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  <a:endParaRPr lang="fr-FR" dirty="0"/>
            </a:p>
          </p:txBody>
        </p:sp>
        <p:sp>
          <p:nvSpPr>
            <p:cNvPr id="15" name="Ellipse 14">
              <a:extLst>
                <a:ext uri="{FF2B5EF4-FFF2-40B4-BE49-F238E27FC236}">
                  <a16:creationId xmlns:a16="http://schemas.microsoft.com/office/drawing/2014/main" id="{DE22E046-E720-98D4-1E66-3DC2CFB6F47C}"/>
                </a:ext>
              </a:extLst>
            </p:cNvPr>
            <p:cNvSpPr/>
            <p:nvPr/>
          </p:nvSpPr>
          <p:spPr>
            <a:xfrm>
              <a:off x="11372841" y="4227242"/>
              <a:ext cx="274320" cy="24384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  <a:endParaRPr lang="fr-FR" dirty="0"/>
            </a:p>
          </p:txBody>
        </p:sp>
      </p:grpSp>
      <p:sp>
        <p:nvSpPr>
          <p:cNvPr id="17" name="ZoneTexte 16">
            <a:extLst>
              <a:ext uri="{FF2B5EF4-FFF2-40B4-BE49-F238E27FC236}">
                <a16:creationId xmlns:a16="http://schemas.microsoft.com/office/drawing/2014/main" id="{4D1DF958-07A4-F164-7AB4-CAE5285F86F1}"/>
              </a:ext>
            </a:extLst>
          </p:cNvPr>
          <p:cNvSpPr txBox="1"/>
          <p:nvPr/>
        </p:nvSpPr>
        <p:spPr>
          <a:xfrm>
            <a:off x="1882967" y="50885"/>
            <a:ext cx="89475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IaC</a:t>
            </a:r>
            <a:r>
              <a:rPr lang="en-US" sz="4000" dirty="0">
                <a:solidFill>
                  <a:schemeClr val="bg1"/>
                </a:solidFill>
              </a:rPr>
              <a:t>: Building the Pipeline with Terraform</a:t>
            </a:r>
            <a:endParaRPr lang="fr-FR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369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8" name="Picture 24" descr="Fonds pour diaporamas : 15 exemples et modèles - Venngage">
            <a:extLst>
              <a:ext uri="{FF2B5EF4-FFF2-40B4-BE49-F238E27FC236}">
                <a16:creationId xmlns:a16="http://schemas.microsoft.com/office/drawing/2014/main" id="{DE36AF9A-68B1-C874-D5EE-50BD7193C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6" name="Picture 22" descr="Power BI Logo and symbol, meaning, history, PNG, brand">
            <a:extLst>
              <a:ext uri="{FF2B5EF4-FFF2-40B4-BE49-F238E27FC236}">
                <a16:creationId xmlns:a16="http://schemas.microsoft.com/office/drawing/2014/main" id="{AE14EF4A-FD50-A81F-4C63-F6C017CE61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446" y="3132764"/>
            <a:ext cx="3182123" cy="1789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7FA26AC0-338C-6082-3F09-16EBBD42B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496" y="2111201"/>
            <a:ext cx="4754245" cy="2635597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D1A72CA9-2428-F8A3-082D-0DC59F155E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0" b="1730"/>
          <a:stretch>
            <a:fillRect/>
          </a:stretch>
        </p:blipFill>
        <p:spPr bwMode="auto">
          <a:xfrm>
            <a:off x="2753359" y="5098618"/>
            <a:ext cx="6685280" cy="814338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>
            <a:extLst>
              <a:ext uri="{FF2B5EF4-FFF2-40B4-BE49-F238E27FC236}">
                <a16:creationId xmlns:a16="http://schemas.microsoft.com/office/drawing/2014/main" id="{3D26467B-72F6-4663-DAEF-9206E5A60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4" t="5442" r="1459" b="5309"/>
          <a:stretch>
            <a:fillRect/>
          </a:stretch>
        </p:blipFill>
        <p:spPr bwMode="auto">
          <a:xfrm>
            <a:off x="437515" y="2622933"/>
            <a:ext cx="4011931" cy="2218456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>
            <a:extLst>
              <a:ext uri="{FF2B5EF4-FFF2-40B4-BE49-F238E27FC236}">
                <a16:creationId xmlns:a16="http://schemas.microsoft.com/office/drawing/2014/main" id="{25039687-5CC2-0189-F8C5-691CD2CB11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4" t="2485" r="918"/>
          <a:stretch>
            <a:fillRect/>
          </a:stretch>
        </p:blipFill>
        <p:spPr bwMode="auto">
          <a:xfrm>
            <a:off x="3554094" y="1551366"/>
            <a:ext cx="2734946" cy="1511123"/>
          </a:xfrm>
          <a:prstGeom prst="rect">
            <a:avLst/>
          </a:prstGeom>
          <a:noFill/>
          <a:ln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0C64D55-239D-A834-0044-66ED1EDF0EC2}"/>
              </a:ext>
            </a:extLst>
          </p:cNvPr>
          <p:cNvSpPr txBox="1"/>
          <p:nvPr/>
        </p:nvSpPr>
        <p:spPr>
          <a:xfrm>
            <a:off x="2885440" y="359793"/>
            <a:ext cx="7183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Data Visualization - BI</a:t>
            </a:r>
            <a:endParaRPr lang="fr-FR" sz="6000" b="1" dirty="0"/>
          </a:p>
        </p:txBody>
      </p:sp>
    </p:spTree>
    <p:extLst>
      <p:ext uri="{BB962C8B-B14F-4D97-AF65-F5344CB8AC3E}">
        <p14:creationId xmlns:p14="http://schemas.microsoft.com/office/powerpoint/2010/main" val="211514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🔥 [90+] Pure Black Wallpapers | WallpaperSafari">
            <a:extLst>
              <a:ext uri="{FF2B5EF4-FFF2-40B4-BE49-F238E27FC236}">
                <a16:creationId xmlns:a16="http://schemas.microsoft.com/office/drawing/2014/main" id="{A8C1E3E7-1417-C797-2E61-D26AF5637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53"/>
            <a:ext cx="12217468" cy="686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 descr="Amazon (AWS) Kinesis and Meiro CDP Integration">
            <a:extLst>
              <a:ext uri="{FF2B5EF4-FFF2-40B4-BE49-F238E27FC236}">
                <a16:creationId xmlns:a16="http://schemas.microsoft.com/office/drawing/2014/main" id="{510BA6EC-EFB6-A228-23B4-29364F850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584" y="1274612"/>
            <a:ext cx="1589264" cy="1589264"/>
          </a:xfrm>
          <a:prstGeom prst="rect">
            <a:avLst/>
          </a:prstGeom>
          <a:noFill/>
          <a:effectLst>
            <a:outerShdw blurRad="1270000" dist="2095500" dir="5400000" algn="ctr" rotWithShape="0">
              <a:srgbClr val="000000">
                <a:alpha val="11000"/>
              </a:srgbClr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e 18">
            <a:extLst>
              <a:ext uri="{FF2B5EF4-FFF2-40B4-BE49-F238E27FC236}">
                <a16:creationId xmlns:a16="http://schemas.microsoft.com/office/drawing/2014/main" id="{17BC050D-D310-DCFF-1CF6-26D290F8BBE8}"/>
              </a:ext>
            </a:extLst>
          </p:cNvPr>
          <p:cNvGrpSpPr/>
          <p:nvPr/>
        </p:nvGrpSpPr>
        <p:grpSpPr>
          <a:xfrm>
            <a:off x="275676" y="1191934"/>
            <a:ext cx="7227484" cy="2539118"/>
            <a:chOff x="560156" y="1541908"/>
            <a:chExt cx="7227484" cy="2539118"/>
          </a:xfrm>
        </p:grpSpPr>
        <p:grpSp>
          <p:nvGrpSpPr>
            <p:cNvPr id="8" name="Groupe 7">
              <a:extLst>
                <a:ext uri="{FF2B5EF4-FFF2-40B4-BE49-F238E27FC236}">
                  <a16:creationId xmlns:a16="http://schemas.microsoft.com/office/drawing/2014/main" id="{AF284478-77FB-105C-5D31-8D232B55A2EE}"/>
                </a:ext>
              </a:extLst>
            </p:cNvPr>
            <p:cNvGrpSpPr/>
            <p:nvPr/>
          </p:nvGrpSpPr>
          <p:grpSpPr>
            <a:xfrm>
              <a:off x="768436" y="1787188"/>
              <a:ext cx="6810924" cy="2293838"/>
              <a:chOff x="386450" y="2815114"/>
              <a:chExt cx="11345570" cy="4319737"/>
            </a:xfrm>
          </p:grpSpPr>
          <p:pic>
            <p:nvPicPr>
              <p:cNvPr id="7178" name="Picture 10">
                <a:extLst>
                  <a:ext uri="{FF2B5EF4-FFF2-40B4-BE49-F238E27FC236}">
                    <a16:creationId xmlns:a16="http://schemas.microsoft.com/office/drawing/2014/main" id="{3E9CECBC-E480-C315-2AF2-96074DC8FB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6450" y="4022765"/>
                <a:ext cx="6878872" cy="2416562"/>
              </a:xfrm>
              <a:prstGeom prst="rect">
                <a:avLst/>
              </a:prstGeom>
              <a:noFill/>
              <a:ln>
                <a:solidFill>
                  <a:srgbClr val="00B0F0">
                    <a:alpha val="99000"/>
                  </a:srgbClr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5D29DC50-D5F9-3E99-7FC3-503913D6834D}"/>
                  </a:ext>
                </a:extLst>
              </p:cNvPr>
              <p:cNvSpPr txBox="1"/>
              <p:nvPr/>
            </p:nvSpPr>
            <p:spPr>
              <a:xfrm>
                <a:off x="1089975" y="6439328"/>
                <a:ext cx="5107407" cy="6955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Amazon Kinesis data Streams</a:t>
                </a:r>
                <a:endParaRPr lang="fr-FR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7170" name="Picture 2">
                <a:extLst>
                  <a:ext uri="{FF2B5EF4-FFF2-40B4-BE49-F238E27FC236}">
                    <a16:creationId xmlns:a16="http://schemas.microsoft.com/office/drawing/2014/main" id="{58422B41-7FB0-3C2F-D3AC-0D0077DF6A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53964" y="2815114"/>
                <a:ext cx="7278056" cy="1814776"/>
              </a:xfrm>
              <a:prstGeom prst="rect">
                <a:avLst/>
              </a:prstGeom>
              <a:noFill/>
              <a:ln>
                <a:solidFill>
                  <a:srgbClr val="00B0F0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28B62FCD-0A09-5DC7-226B-C3145A571DD3}"/>
                  </a:ext>
                </a:extLst>
              </p:cNvPr>
              <p:cNvSpPr txBox="1"/>
              <p:nvPr/>
            </p:nvSpPr>
            <p:spPr>
              <a:xfrm>
                <a:off x="7664506" y="4647391"/>
                <a:ext cx="3911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Logs Script Python – Paquet de 10</a:t>
                </a:r>
                <a:endParaRPr lang="fr-FR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AF4FC98-D658-0DDF-BFF7-59AF821963DE}"/>
                </a:ext>
              </a:extLst>
            </p:cNvPr>
            <p:cNvSpPr/>
            <p:nvPr/>
          </p:nvSpPr>
          <p:spPr>
            <a:xfrm>
              <a:off x="560156" y="2219526"/>
              <a:ext cx="416560" cy="41788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  <a:endParaRPr lang="fr-FR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712B38BB-274F-E639-2533-D0A074C30204}"/>
                </a:ext>
              </a:extLst>
            </p:cNvPr>
            <p:cNvSpPr/>
            <p:nvPr/>
          </p:nvSpPr>
          <p:spPr>
            <a:xfrm>
              <a:off x="7371080" y="1541908"/>
              <a:ext cx="416560" cy="417881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  <a:endParaRPr lang="fr-FR" dirty="0"/>
            </a:p>
          </p:txBody>
        </p:sp>
      </p:grpSp>
      <p:sp>
        <p:nvSpPr>
          <p:cNvPr id="14" name="ZoneTexte 13">
            <a:extLst>
              <a:ext uri="{FF2B5EF4-FFF2-40B4-BE49-F238E27FC236}">
                <a16:creationId xmlns:a16="http://schemas.microsoft.com/office/drawing/2014/main" id="{BD9A9C10-917E-129C-28F1-F8EA13AD9A24}"/>
              </a:ext>
            </a:extLst>
          </p:cNvPr>
          <p:cNvSpPr txBox="1"/>
          <p:nvPr/>
        </p:nvSpPr>
        <p:spPr>
          <a:xfrm>
            <a:off x="4287310" y="282721"/>
            <a:ext cx="5090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Streaming</a:t>
            </a:r>
            <a:endParaRPr lang="fr-FR" sz="6000" dirty="0">
              <a:solidFill>
                <a:schemeClr val="bg1"/>
              </a:solidFill>
            </a:endParaRPr>
          </a:p>
        </p:txBody>
      </p: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5B65C116-8F0D-0B01-C675-AB5A33334480}"/>
              </a:ext>
            </a:extLst>
          </p:cNvPr>
          <p:cNvGrpSpPr/>
          <p:nvPr/>
        </p:nvGrpSpPr>
        <p:grpSpPr>
          <a:xfrm>
            <a:off x="6362464" y="3069052"/>
            <a:ext cx="5263831" cy="1466817"/>
            <a:chOff x="3859849" y="4780396"/>
            <a:chExt cx="8142835" cy="2166671"/>
          </a:xfrm>
        </p:grpSpPr>
        <p:pic>
          <p:nvPicPr>
            <p:cNvPr id="7180" name="Picture 12">
              <a:extLst>
                <a:ext uri="{FF2B5EF4-FFF2-40B4-BE49-F238E27FC236}">
                  <a16:creationId xmlns:a16="http://schemas.microsoft.com/office/drawing/2014/main" id="{73AD6B03-0586-0C19-5767-A18ABB9670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59849" y="5070812"/>
              <a:ext cx="7928051" cy="1317213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BBFFC3C8-957B-55E8-2B34-BA7CE5BAA704}"/>
                </a:ext>
              </a:extLst>
            </p:cNvPr>
            <p:cNvSpPr txBox="1"/>
            <p:nvPr/>
          </p:nvSpPr>
          <p:spPr>
            <a:xfrm>
              <a:off x="5438301" y="6401518"/>
              <a:ext cx="5029126" cy="545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Amazon Kinesis data Firehose</a:t>
              </a:r>
              <a:endParaRPr lang="fr-FR" dirty="0">
                <a:solidFill>
                  <a:schemeClr val="bg1"/>
                </a:solidFill>
              </a:endParaRPr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AC00F36-C2DB-36A5-DE25-B715DD9F967C}"/>
                </a:ext>
              </a:extLst>
            </p:cNvPr>
            <p:cNvSpPr/>
            <p:nvPr/>
          </p:nvSpPr>
          <p:spPr>
            <a:xfrm>
              <a:off x="11475815" y="4780396"/>
              <a:ext cx="526869" cy="49935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  <a:endParaRPr lang="fr-FR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03B049A-4A44-9F52-4A0B-149B1150414D}"/>
                </a:ext>
              </a:extLst>
            </p:cNvPr>
            <p:cNvSpPr/>
            <p:nvPr/>
          </p:nvSpPr>
          <p:spPr>
            <a:xfrm>
              <a:off x="4256830" y="5852160"/>
              <a:ext cx="1219410" cy="2151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34A8A33-C5CD-0478-D1DD-52E59788CB36}"/>
                </a:ext>
              </a:extLst>
            </p:cNvPr>
            <p:cNvSpPr/>
            <p:nvPr/>
          </p:nvSpPr>
          <p:spPr>
            <a:xfrm>
              <a:off x="10637519" y="5843775"/>
              <a:ext cx="995643" cy="21513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7190" name="Picture 22">
            <a:extLst>
              <a:ext uri="{FF2B5EF4-FFF2-40B4-BE49-F238E27FC236}">
                <a16:creationId xmlns:a16="http://schemas.microsoft.com/office/drawing/2014/main" id="{8EEAFD54-D3B3-7CF7-3957-F89B31D86B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3225" y="5062958"/>
            <a:ext cx="6096000" cy="1054100"/>
          </a:xfrm>
          <a:prstGeom prst="rect">
            <a:avLst/>
          </a:prstGeom>
          <a:noFill/>
          <a:ln w="127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2" name="Picture 24">
            <a:extLst>
              <a:ext uri="{FF2B5EF4-FFF2-40B4-BE49-F238E27FC236}">
                <a16:creationId xmlns:a16="http://schemas.microsoft.com/office/drawing/2014/main" id="{6BAF83A3-FF24-1662-0BF4-338171313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83" y="3847651"/>
            <a:ext cx="5529659" cy="2503467"/>
          </a:xfrm>
          <a:prstGeom prst="rect">
            <a:avLst/>
          </a:prstGeom>
          <a:noFill/>
          <a:ln w="127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FE49EA6B-9547-28B1-7E4B-256CD9BCA289}"/>
              </a:ext>
            </a:extLst>
          </p:cNvPr>
          <p:cNvSpPr txBox="1"/>
          <p:nvPr/>
        </p:nvSpPr>
        <p:spPr>
          <a:xfrm>
            <a:off x="7611292" y="6117058"/>
            <a:ext cx="325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S3 Bucket - Objects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1CE794E-50A3-76E7-0A53-F0954CCE5C43}"/>
              </a:ext>
            </a:extLst>
          </p:cNvPr>
          <p:cNvSpPr txBox="1"/>
          <p:nvPr/>
        </p:nvSpPr>
        <p:spPr>
          <a:xfrm>
            <a:off x="1557502" y="6308649"/>
            <a:ext cx="3251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S3 Bucket – Goals Raws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D48AEE1F-A5D9-2BF3-351C-B6D0CF324AE6}"/>
              </a:ext>
            </a:extLst>
          </p:cNvPr>
          <p:cNvSpPr/>
          <p:nvPr/>
        </p:nvSpPr>
        <p:spPr>
          <a:xfrm>
            <a:off x="11851412" y="4761324"/>
            <a:ext cx="340588" cy="3380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fr-FR" dirty="0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168F561D-182F-C15E-F1C3-EAEA418DE5C9}"/>
              </a:ext>
            </a:extLst>
          </p:cNvPr>
          <p:cNvSpPr/>
          <p:nvPr/>
        </p:nvSpPr>
        <p:spPr>
          <a:xfrm>
            <a:off x="5551069" y="3623042"/>
            <a:ext cx="340588" cy="3380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755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831A-D16E-9B4C-BB80-C6DBBD348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0" descr="🔥 [90+] Pure Black Wallpapers | WallpaperSafari">
            <a:extLst>
              <a:ext uri="{FF2B5EF4-FFF2-40B4-BE49-F238E27FC236}">
                <a16:creationId xmlns:a16="http://schemas.microsoft.com/office/drawing/2014/main" id="{1753EEFD-45DE-8C7B-76AC-17275BD2C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53"/>
            <a:ext cx="12217468" cy="6867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6" name="Picture 18" descr="Amazon (AWS) Kinesis and Meiro CDP Integration">
            <a:extLst>
              <a:ext uri="{FF2B5EF4-FFF2-40B4-BE49-F238E27FC236}">
                <a16:creationId xmlns:a16="http://schemas.microsoft.com/office/drawing/2014/main" id="{8D434165-A6FD-D5C0-EF30-AAAEA03F8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584" y="1274612"/>
            <a:ext cx="1589264" cy="1589264"/>
          </a:xfrm>
          <a:prstGeom prst="rect">
            <a:avLst/>
          </a:prstGeom>
          <a:noFill/>
          <a:effectLst>
            <a:outerShdw blurRad="1270000" dist="2095500" dir="5400000" algn="ctr" rotWithShape="0">
              <a:srgbClr val="000000">
                <a:alpha val="11000"/>
              </a:srgbClr>
            </a:outerShdw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5EDAA21F-A7A3-4694-3E9D-FCD5F6DB2295}"/>
              </a:ext>
            </a:extLst>
          </p:cNvPr>
          <p:cNvSpPr txBox="1"/>
          <p:nvPr/>
        </p:nvSpPr>
        <p:spPr>
          <a:xfrm>
            <a:off x="4287310" y="282721"/>
            <a:ext cx="509016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Streaming</a:t>
            </a:r>
            <a:endParaRPr lang="fr-FR" sz="6000" dirty="0">
              <a:solidFill>
                <a:schemeClr val="bg1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6CA8936-6874-1A4C-4EB3-5C05BFF7B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261" y="1111767"/>
            <a:ext cx="5999584" cy="2499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llipse 1">
            <a:extLst>
              <a:ext uri="{FF2B5EF4-FFF2-40B4-BE49-F238E27FC236}">
                <a16:creationId xmlns:a16="http://schemas.microsoft.com/office/drawing/2014/main" id="{291A9055-208E-D497-6266-4738F08E0FA3}"/>
              </a:ext>
            </a:extLst>
          </p:cNvPr>
          <p:cNvSpPr/>
          <p:nvPr/>
        </p:nvSpPr>
        <p:spPr>
          <a:xfrm>
            <a:off x="6034292" y="960324"/>
            <a:ext cx="340588" cy="3380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fr-FR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8F12174-1E93-4C4F-C014-D67E274516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55" y="4440640"/>
            <a:ext cx="4552568" cy="117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1716A61-1DE4-07D3-8B5D-3DBAF7CF6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3290" y="3715235"/>
            <a:ext cx="6708710" cy="3039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DD04FB57-E7AF-C2E4-A93B-F6CB0EAB4DE0}"/>
              </a:ext>
            </a:extLst>
          </p:cNvPr>
          <p:cNvSpPr/>
          <p:nvPr/>
        </p:nvSpPr>
        <p:spPr>
          <a:xfrm>
            <a:off x="11919398" y="3494385"/>
            <a:ext cx="340588" cy="3380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  <a:endParaRPr lang="fr-FR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A713F16-467C-E684-0287-9A62757886C7}"/>
              </a:ext>
            </a:extLst>
          </p:cNvPr>
          <p:cNvSpPr/>
          <p:nvPr/>
        </p:nvSpPr>
        <p:spPr>
          <a:xfrm>
            <a:off x="4786088" y="4271610"/>
            <a:ext cx="340588" cy="33806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27275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86FA-AE9F-D974-FFDC-EE0346F7B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68" name="Picture 24" descr="Fonds pour diaporamas : 15 exemples et modèles - Venngage">
            <a:extLst>
              <a:ext uri="{FF2B5EF4-FFF2-40B4-BE49-F238E27FC236}">
                <a16:creationId xmlns:a16="http://schemas.microsoft.com/office/drawing/2014/main" id="{1D6835B6-C326-8937-66D9-84A7ACC0C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 14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5CED761A-994A-6070-8DDA-B447C82F75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1831" y="153010"/>
            <a:ext cx="3640961" cy="2009964"/>
          </a:xfrm>
          <a:prstGeom prst="rect">
            <a:avLst/>
          </a:prstGeom>
          <a:ln w="12700">
            <a:solidFill>
              <a:srgbClr val="00B0F0"/>
            </a:solidFill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0B5A451A-8C6B-766A-E5DA-F663C6942E0F}"/>
              </a:ext>
            </a:extLst>
          </p:cNvPr>
          <p:cNvSpPr txBox="1"/>
          <p:nvPr/>
        </p:nvSpPr>
        <p:spPr>
          <a:xfrm>
            <a:off x="184470" y="1825625"/>
            <a:ext cx="5047862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S3 Storage</a:t>
            </a:r>
            <a:endParaRPr lang="fr-FR" sz="2400" dirty="0"/>
          </a:p>
          <a:p>
            <a:r>
              <a:rPr lang="fr-FR" sz="1600" i="1" dirty="0"/>
              <a:t>Raw + </a:t>
            </a:r>
            <a:r>
              <a:rPr lang="fr-FR" sz="1600" i="1" dirty="0" err="1"/>
              <a:t>Processed</a:t>
            </a:r>
            <a:r>
              <a:rPr lang="fr-FR" sz="1600" i="1" dirty="0"/>
              <a:t> Data:</a:t>
            </a:r>
            <a:br>
              <a:rPr lang="fr-FR" sz="1600" i="1" dirty="0"/>
            </a:br>
            <a:r>
              <a:rPr lang="fr-FR" sz="1600" i="1" dirty="0"/>
              <a:t> 50 GB × $0.023/GB = </a:t>
            </a:r>
            <a:r>
              <a:rPr lang="fr-FR" sz="1600" b="1" i="1" dirty="0"/>
              <a:t>$1.15</a:t>
            </a:r>
          </a:p>
          <a:p>
            <a:endParaRPr lang="fr-FR" i="1" dirty="0"/>
          </a:p>
          <a:p>
            <a:r>
              <a:rPr lang="fr-FR" sz="2400" b="1" dirty="0" err="1"/>
              <a:t>Kinesis</a:t>
            </a:r>
            <a:r>
              <a:rPr lang="fr-FR" sz="2400" b="1" dirty="0"/>
              <a:t> Data </a:t>
            </a:r>
            <a:r>
              <a:rPr lang="fr-FR" sz="2400" b="1" dirty="0" err="1"/>
              <a:t>Streams</a:t>
            </a:r>
            <a:endParaRPr lang="fr-FR" sz="2400" dirty="0"/>
          </a:p>
          <a:p>
            <a:r>
              <a:rPr lang="fr-FR" sz="1600" i="1" dirty="0"/>
              <a:t>1 </a:t>
            </a:r>
            <a:r>
              <a:rPr lang="fr-FR" sz="1600" i="1" dirty="0" err="1"/>
              <a:t>stream</a:t>
            </a:r>
            <a:r>
              <a:rPr lang="fr-FR" sz="1600" i="1" dirty="0"/>
              <a:t>, </a:t>
            </a:r>
            <a:r>
              <a:rPr lang="fr-FR" sz="1600" i="1" dirty="0" err="1"/>
              <a:t>low</a:t>
            </a:r>
            <a:r>
              <a:rPr lang="fr-FR" sz="1600" i="1" dirty="0"/>
              <a:t> </a:t>
            </a:r>
            <a:r>
              <a:rPr lang="fr-FR" sz="1600" i="1" dirty="0" err="1"/>
              <a:t>throughput</a:t>
            </a:r>
            <a:r>
              <a:rPr lang="fr-FR" sz="1600" i="1" dirty="0"/>
              <a:t> (1 </a:t>
            </a:r>
            <a:r>
              <a:rPr lang="fr-FR" sz="1600" i="1" dirty="0" err="1"/>
              <a:t>shard</a:t>
            </a:r>
            <a:r>
              <a:rPr lang="fr-FR" sz="1600" i="1" dirty="0"/>
              <a:t>):</a:t>
            </a:r>
            <a:br>
              <a:rPr lang="fr-FR" sz="1600" i="1" dirty="0"/>
            </a:br>
            <a:r>
              <a:rPr lang="fr-FR" sz="1600" i="1" dirty="0"/>
              <a:t>$0.015/</a:t>
            </a:r>
            <a:r>
              <a:rPr lang="fr-FR" sz="1600" i="1" dirty="0" err="1"/>
              <a:t>hour</a:t>
            </a:r>
            <a:r>
              <a:rPr lang="fr-FR" sz="1600" i="1" dirty="0"/>
              <a:t> × 24 × 30 = </a:t>
            </a:r>
            <a:r>
              <a:rPr lang="fr-FR" sz="1600" b="1" i="1" dirty="0"/>
              <a:t>$10.80</a:t>
            </a:r>
          </a:p>
          <a:p>
            <a:endParaRPr lang="fr-FR" sz="1600" dirty="0"/>
          </a:p>
          <a:p>
            <a:r>
              <a:rPr lang="fr-FR" sz="2400" b="1" dirty="0" err="1"/>
              <a:t>Kinesis</a:t>
            </a:r>
            <a:r>
              <a:rPr lang="fr-FR" sz="2400" b="1" dirty="0"/>
              <a:t> Data </a:t>
            </a:r>
            <a:r>
              <a:rPr lang="fr-FR" sz="2400" b="1" dirty="0" err="1"/>
              <a:t>Firehose</a:t>
            </a:r>
            <a:endParaRPr lang="fr-FR" sz="2400" dirty="0"/>
          </a:p>
          <a:p>
            <a:r>
              <a:rPr lang="fr-FR" sz="1600" i="1" dirty="0"/>
              <a:t>Delivery </a:t>
            </a:r>
            <a:r>
              <a:rPr lang="fr-FR" sz="1600" i="1" dirty="0" err="1"/>
              <a:t>stream</a:t>
            </a:r>
            <a:r>
              <a:rPr lang="fr-FR" sz="1600" i="1" dirty="0"/>
              <a:t>:</a:t>
            </a:r>
            <a:br>
              <a:rPr lang="fr-FR" sz="1600" i="1" dirty="0"/>
            </a:br>
            <a:r>
              <a:rPr lang="fr-FR" sz="1600" i="1" dirty="0"/>
              <a:t>$0.029/GB </a:t>
            </a:r>
            <a:r>
              <a:rPr lang="fr-FR" sz="1600" i="1" dirty="0" err="1"/>
              <a:t>ingested</a:t>
            </a:r>
            <a:r>
              <a:rPr lang="fr-FR" sz="1600" i="1" dirty="0"/>
              <a:t> × 50 GB = </a:t>
            </a:r>
            <a:r>
              <a:rPr lang="fr-FR" sz="1600" b="1" i="1" dirty="0"/>
              <a:t>$1.45</a:t>
            </a:r>
          </a:p>
          <a:p>
            <a:endParaRPr lang="fr-FR" sz="1600" dirty="0"/>
          </a:p>
          <a:p>
            <a:r>
              <a:rPr lang="fr-FR" sz="2400" b="1" dirty="0"/>
              <a:t>Glue Crawler &amp; </a:t>
            </a:r>
            <a:r>
              <a:rPr lang="fr-FR" sz="2400" b="1" dirty="0" err="1"/>
              <a:t>Catalog</a:t>
            </a:r>
            <a:endParaRPr lang="fr-FR" sz="2400" dirty="0"/>
          </a:p>
          <a:p>
            <a:r>
              <a:rPr lang="fr-FR" sz="1600" i="1" dirty="0"/>
              <a:t>Crawler runs (light usage):</a:t>
            </a:r>
            <a:br>
              <a:rPr lang="fr-FR" sz="1600" i="1" dirty="0"/>
            </a:br>
            <a:r>
              <a:rPr lang="fr-FR" sz="1600" i="1" dirty="0"/>
              <a:t>10 runs × $0.44/run = </a:t>
            </a:r>
            <a:r>
              <a:rPr lang="fr-FR" sz="1600" b="1" i="1" dirty="0"/>
              <a:t>$4.40</a:t>
            </a:r>
            <a:endParaRPr lang="fr-FR" sz="1600" i="1" dirty="0"/>
          </a:p>
          <a:p>
            <a:endParaRPr lang="fr-FR" sz="24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CCE88FE-D5FF-BCFA-72F9-706385006290}"/>
              </a:ext>
            </a:extLst>
          </p:cNvPr>
          <p:cNvSpPr txBox="1"/>
          <p:nvPr/>
        </p:nvSpPr>
        <p:spPr>
          <a:xfrm>
            <a:off x="3572069" y="1157992"/>
            <a:ext cx="50478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Football Data Pipeline – Cost Estimate</a:t>
            </a:r>
            <a:br>
              <a:rPr lang="en-US" sz="2400" b="1" dirty="0"/>
            </a:br>
            <a:endParaRPr lang="en-US" sz="2400" b="1" dirty="0"/>
          </a:p>
          <a:p>
            <a:endParaRPr lang="fr-FR" sz="2400" b="1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E2CD245-2EB6-DF76-4D77-BD3DC37C2B6A}"/>
              </a:ext>
            </a:extLst>
          </p:cNvPr>
          <p:cNvSpPr txBox="1"/>
          <p:nvPr/>
        </p:nvSpPr>
        <p:spPr>
          <a:xfrm>
            <a:off x="4718180" y="128925"/>
            <a:ext cx="54660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FinOps</a:t>
            </a:r>
            <a:endParaRPr lang="fr-FR" sz="6000" b="1" dirty="0"/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42431C12-53EF-F1A6-34CB-875F16563F73}"/>
              </a:ext>
            </a:extLst>
          </p:cNvPr>
          <p:cNvCxnSpPr/>
          <p:nvPr/>
        </p:nvCxnSpPr>
        <p:spPr>
          <a:xfrm>
            <a:off x="5812971" y="2006082"/>
            <a:ext cx="0" cy="466530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645C851C-D997-AD25-8E98-6209B015C466}"/>
              </a:ext>
            </a:extLst>
          </p:cNvPr>
          <p:cNvSpPr txBox="1"/>
          <p:nvPr/>
        </p:nvSpPr>
        <p:spPr>
          <a:xfrm>
            <a:off x="6205826" y="1825624"/>
            <a:ext cx="5047862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Glue ETL Jobs </a:t>
            </a:r>
          </a:p>
          <a:p>
            <a:r>
              <a:rPr lang="en-US" i="1" dirty="0"/>
              <a:t>Light ETL (optional):</a:t>
            </a:r>
            <a:br>
              <a:rPr lang="en-US" i="1" dirty="0"/>
            </a:br>
            <a:r>
              <a:rPr lang="en-US" i="1" dirty="0"/>
              <a:t>10 DPUs × 1 hour × $0.44 = </a:t>
            </a:r>
            <a:r>
              <a:rPr lang="en-US" b="1" i="1" dirty="0"/>
              <a:t>$4.40</a:t>
            </a:r>
          </a:p>
          <a:p>
            <a:endParaRPr lang="en-US" sz="2400" dirty="0"/>
          </a:p>
          <a:p>
            <a:r>
              <a:rPr lang="en-US" sz="2400" b="1" dirty="0"/>
              <a:t>Athena Queries</a:t>
            </a:r>
            <a:endParaRPr lang="en-US" sz="2400" dirty="0"/>
          </a:p>
          <a:p>
            <a:r>
              <a:rPr lang="en-US" i="1" dirty="0"/>
              <a:t>100 GB × $5.00/TB = </a:t>
            </a:r>
            <a:r>
              <a:rPr lang="en-US" b="1" i="1" dirty="0"/>
              <a:t>$0.50</a:t>
            </a:r>
          </a:p>
          <a:p>
            <a:endParaRPr lang="en-US" sz="2400" dirty="0"/>
          </a:p>
          <a:p>
            <a:r>
              <a:rPr lang="en-US" sz="2400" b="1" dirty="0"/>
              <a:t>EC2 (Producer)</a:t>
            </a:r>
            <a:endParaRPr lang="en-US" sz="2400" dirty="0"/>
          </a:p>
          <a:p>
            <a:r>
              <a:rPr lang="en-US" sz="1600" i="1" dirty="0"/>
              <a:t>t2.micro (on-demand):</a:t>
            </a:r>
            <a:br>
              <a:rPr lang="en-US" sz="1600" i="1" dirty="0"/>
            </a:br>
            <a:r>
              <a:rPr lang="en-US" sz="1600" i="1" dirty="0"/>
              <a:t>$0.0104/hour × 24 × 30 = </a:t>
            </a:r>
            <a:r>
              <a:rPr lang="en-US" sz="1600" b="1" i="1" dirty="0"/>
              <a:t>$7.50</a:t>
            </a:r>
            <a:endParaRPr lang="en-US" sz="1600" i="1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2051B7E-3094-72DF-645E-8BE886A4BB52}"/>
              </a:ext>
            </a:extLst>
          </p:cNvPr>
          <p:cNvSpPr txBox="1"/>
          <p:nvPr/>
        </p:nvSpPr>
        <p:spPr>
          <a:xfrm>
            <a:off x="6205826" y="5665251"/>
            <a:ext cx="55227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effectLst/>
              </a:rPr>
              <a:t>Total Estimated Monthly Cost:</a:t>
            </a:r>
            <a:br>
              <a:rPr lang="en-US" sz="2800" i="1" dirty="0"/>
            </a:br>
            <a:r>
              <a:rPr lang="en-US" sz="2800" b="1" i="1" dirty="0">
                <a:effectLst/>
              </a:rPr>
              <a:t>≈ $30–$40 USD</a:t>
            </a:r>
            <a:endParaRPr lang="fr-FR" sz="2800" i="1" dirty="0"/>
          </a:p>
        </p:txBody>
      </p:sp>
    </p:spTree>
    <p:extLst>
      <p:ext uri="{BB962C8B-B14F-4D97-AF65-F5344CB8AC3E}">
        <p14:creationId xmlns:p14="http://schemas.microsoft.com/office/powerpoint/2010/main" val="16753121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25ca717-11da-4935-b601-f527b9741f2e}" enabled="1" method="Standard" siteId="{d852d5cd-724c-4128-8812-ffa5db3f850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1215</Words>
  <Application>Microsoft Office PowerPoint</Application>
  <PresentationFormat>Grand écran</PresentationFormat>
  <Paragraphs>161</Paragraphs>
  <Slides>9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berkeleyMono</vt:lpstr>
      <vt:lpstr>Calibri</vt:lpstr>
      <vt:lpstr>Calibri Light</vt:lpstr>
      <vt:lpstr>Wingdings</vt:lpstr>
      <vt:lpstr>Thème Office</vt:lpstr>
      <vt:lpstr>Football League Analytics Cloud Pipeline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Araoui Khalil</dc:creator>
  <cp:lastModifiedBy>ISMAIL BENAISSA (EXTERNAL)</cp:lastModifiedBy>
  <cp:revision>8</cp:revision>
  <dcterms:created xsi:type="dcterms:W3CDTF">2026-01-28T22:39:23Z</dcterms:created>
  <dcterms:modified xsi:type="dcterms:W3CDTF">2026-01-29T09:22:21Z</dcterms:modified>
</cp:coreProperties>
</file>